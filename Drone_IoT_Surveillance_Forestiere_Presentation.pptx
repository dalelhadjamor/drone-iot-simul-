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432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45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IOT SIMULÉ — SURVEILLANCE FORESTIÈRE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détection précoce et automatisée des incendies est devenue indispensable.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281160" y="320040"/>
            <a:ext cx="2377440" cy="2377440"/>
          </a:xfrm>
          <a:prstGeom prst="ellipse">
            <a:avLst/>
          </a:prstGeom>
          <a:solidFill>
            <a:srgbClr val="00B8D9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29800" y="86868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221" y="1035101"/>
            <a:ext cx="947318" cy="9473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243276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3042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patrimoine vital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697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forêts régulent le climat, abritent la biodiversité et fournissent des ressources essentielles aux populations.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380436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6758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méthodes traditionnelles limitées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069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Patrouilles terrestres, tours de guet, survols habités : coûteux, lents, à couverture spatiale restreinte.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" y="5175961"/>
            <a:ext cx="575158" cy="57515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50474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détection précoce indispensable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départ de feu au plus tôt pour limiter sa propagation et réduire les dégâts humains et matériels.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Surveiller, détecter, transmettre, alerter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1786738"/>
            <a:ext cx="541325" cy="541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drone entièrement simulé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Modélisé sous Gazebo et piloté via ROS2, pour un comportement de vol réaliste sans aucun matériel physique.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VIRTUELS EMBARQUÉS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" y="363336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thermique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24028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3208" y="3633368"/>
            <a:ext cx="642823" cy="64282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fumée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931920" y="3520440"/>
            <a:ext cx="868680" cy="86868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848" y="3633368"/>
            <a:ext cx="642823" cy="64282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11880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583680" y="169164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1F2E4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85800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↔ CAPTEURS EN RÉSEAU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 flipV="1">
            <a:off x="9121140" y="3589020"/>
            <a:ext cx="18288" cy="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732520" y="21488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561" y="2249881"/>
            <a:ext cx="575158" cy="57515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 flipH="1">
            <a:off x="9121140" y="3589020"/>
            <a:ext cx="0" cy="77724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7360920" y="39776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961" y="4078681"/>
            <a:ext cx="575158" cy="57515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21140" y="3589020"/>
            <a:ext cx="1371600" cy="777240"/>
          </a:xfrm>
          <a:prstGeom prst="line">
            <a:avLst/>
          </a:prstGeom>
          <a:noFill/>
          <a:ln w="19050">
            <a:solidFill>
              <a:srgbClr val="00B8D9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0104120" y="3977640"/>
            <a:ext cx="777240" cy="7772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5161" y="4078681"/>
            <a:ext cx="575158" cy="57515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618220" y="3086100"/>
            <a:ext cx="1005840" cy="100584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979" y="3216859"/>
            <a:ext cx="744322" cy="74432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00B8D9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77840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554480" y="5349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surveiller, détecter, transmettre et alerter en temps réel.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clés du système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" y="1945386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simulé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Gazebo/ROS2 du multirotor et de son environnement de vol.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1945386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Autopilote PX4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Stabilisation, navigation et gestion des points de passage (mode SITL).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6448" y="160020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56232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634" y="1945386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incendie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TensorFlow Lite pour identifier un départ de feu en temps réel.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6" y="4597146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cloud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chiffrée et sécurisée via le protocole MQTT/TLS.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2544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730" y="4597146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en temps réel avec Grafana ou Kibana.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6448" y="4251960"/>
            <a:ext cx="34838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507992"/>
            <a:ext cx="685800" cy="685800"/>
          </a:xfrm>
          <a:prstGeom prst="ellipse">
            <a:avLst/>
          </a:prstGeom>
          <a:solidFill>
            <a:srgbClr val="16223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1634" y="4597146"/>
            <a:ext cx="507492" cy="50749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prédiction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7332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des données et prédiction du risque à partir d'un dataset incendies.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simplifiée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PHYSIQUE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6" name="Shape 4"/>
          <p:cNvSpPr/>
          <p:nvPr/>
        </p:nvSpPr>
        <p:spPr>
          <a:xfrm>
            <a:off x="1535049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750" y="1756197"/>
            <a:ext cx="419527" cy="4195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97530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282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11" name="Shape 8"/>
          <p:cNvSpPr/>
          <p:nvPr/>
        </p:nvSpPr>
        <p:spPr>
          <a:xfrm>
            <a:off x="4385691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392" y="175619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5002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8172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15" name="Shape 11"/>
          <p:cNvSpPr/>
          <p:nvPr/>
        </p:nvSpPr>
        <p:spPr>
          <a:xfrm>
            <a:off x="6249924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36333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034" y="1756197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95644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798814" y="209397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00566" y="1554480"/>
            <a:ext cx="2539746" cy="1371600"/>
          </a:xfrm>
          <a:prstGeom prst="roundRect">
            <a:avLst>
              <a:gd name="adj" fmla="val 5333"/>
            </a:avLst>
          </a:prstGeom>
          <a:solidFill>
            <a:srgbClr val="1F2E4A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86975" y="1682496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676" y="1756197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6286" y="2286000"/>
            <a:ext cx="24483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776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26" name="Shape 20"/>
          <p:cNvSpPr/>
          <p:nvPr/>
        </p:nvSpPr>
        <p:spPr>
          <a:xfrm>
            <a:off x="979061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497" y="4347972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94360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1875826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30" name="Shape 23"/>
          <p:cNvSpPr/>
          <p:nvPr/>
        </p:nvSpPr>
        <p:spPr>
          <a:xfrm>
            <a:off x="2177578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31" name="Shape 24"/>
          <p:cNvSpPr/>
          <p:nvPr/>
        </p:nvSpPr>
        <p:spPr>
          <a:xfrm>
            <a:off x="2607999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435" y="4347972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223298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PX4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504765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35" name="Shape 27"/>
          <p:cNvSpPr/>
          <p:nvPr/>
        </p:nvSpPr>
        <p:spPr>
          <a:xfrm>
            <a:off x="3806517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36" name="Shape 28"/>
          <p:cNvSpPr/>
          <p:nvPr/>
        </p:nvSpPr>
        <p:spPr>
          <a:xfrm>
            <a:off x="4236938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6374" y="4347972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852237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133703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40" name="Shape 31"/>
          <p:cNvSpPr/>
          <p:nvPr/>
        </p:nvSpPr>
        <p:spPr>
          <a:xfrm>
            <a:off x="5435455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41" name="Shape 32"/>
          <p:cNvSpPr/>
          <p:nvPr/>
        </p:nvSpPr>
        <p:spPr>
          <a:xfrm>
            <a:off x="5865876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5312" y="4347972"/>
            <a:ext cx="338328" cy="33832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481175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762641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45" name="Shape 35"/>
          <p:cNvSpPr/>
          <p:nvPr/>
        </p:nvSpPr>
        <p:spPr>
          <a:xfrm>
            <a:off x="7064393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46" name="Shape 36"/>
          <p:cNvSpPr/>
          <p:nvPr/>
        </p:nvSpPr>
        <p:spPr>
          <a:xfrm>
            <a:off x="7494814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4250" y="4347972"/>
            <a:ext cx="338328" cy="33832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110113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8391579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50" name="Shape 39"/>
          <p:cNvSpPr/>
          <p:nvPr/>
        </p:nvSpPr>
        <p:spPr>
          <a:xfrm>
            <a:off x="8693331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51" name="Shape 40"/>
          <p:cNvSpPr/>
          <p:nvPr/>
        </p:nvSpPr>
        <p:spPr>
          <a:xfrm>
            <a:off x="9123753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189" y="4347972"/>
            <a:ext cx="338328" cy="338328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739051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10020518" y="4768596"/>
            <a:ext cx="292608" cy="292608"/>
          </a:xfrm>
          <a:prstGeom prst="chevron">
            <a:avLst/>
          </a:prstGeom>
          <a:solidFill>
            <a:srgbClr val="00B8D9"/>
          </a:solidFill>
          <a:ln/>
        </p:spPr>
      </p:sp>
      <p:sp>
        <p:nvSpPr>
          <p:cNvPr id="55" name="Shape 43"/>
          <p:cNvSpPr/>
          <p:nvPr/>
        </p:nvSpPr>
        <p:spPr>
          <a:xfrm>
            <a:off x="10322270" y="4160520"/>
            <a:ext cx="1318042" cy="1508760"/>
          </a:xfrm>
          <a:prstGeom prst="roundRect">
            <a:avLst>
              <a:gd name="adj" fmla="val 5550"/>
            </a:avLst>
          </a:prstGeom>
          <a:solidFill>
            <a:srgbClr val="1F2E4A"/>
          </a:solidFill>
          <a:ln/>
        </p:spPr>
      </p:sp>
      <p:sp>
        <p:nvSpPr>
          <p:cNvPr id="56" name="Shape 44"/>
          <p:cNvSpPr/>
          <p:nvPr/>
        </p:nvSpPr>
        <p:spPr>
          <a:xfrm>
            <a:off x="10752691" y="4288536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127" y="4347972"/>
            <a:ext cx="338328" cy="338328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10367990" y="4782312"/>
            <a:ext cx="12266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59" name="Text 46"/>
          <p:cNvSpPr txBox="1"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logique détaille, à l'intérieur du drone puis dans le cloud, le cheminement complet des données jusqu'à leur restitution.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 &amp;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57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académique solide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96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démonstration technique complète et réalisable dans le cadre temporel d'un PFE.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4496" y="1783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10" name="Shape 7"/>
          <p:cNvSpPr/>
          <p:nvPr/>
        </p:nvSpPr>
        <p:spPr>
          <a:xfrm>
            <a:off x="6528816" y="2057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14655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7496" y="2057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innovante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97496" y="2496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drone simulé, capteurs virtuels, cloud IoT et intelligence artificielle prédictive.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44325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343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impact environnemental réel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782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départs de feu pour protéger les écosystèmes et la biodiversité forestière.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4496" y="4069080"/>
            <a:ext cx="5385816" cy="1965960"/>
          </a:xfrm>
          <a:prstGeom prst="roundRect">
            <a:avLst>
              <a:gd name="adj" fmla="val 4651"/>
            </a:avLst>
          </a:prstGeom>
          <a:solidFill>
            <a:srgbClr val="1F2E4A"/>
          </a:solidFill>
          <a:ln/>
        </p:spPr>
      </p:sp>
      <p:sp>
        <p:nvSpPr>
          <p:cNvPr id="20" name="Shape 15"/>
          <p:cNvSpPr/>
          <p:nvPr/>
        </p:nvSpPr>
        <p:spPr>
          <a:xfrm>
            <a:off x="6528816" y="434340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44325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97496" y="434340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évolutive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97496" y="478231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simulation logicielle vers un futur prototype physique déployable sur le terrain.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simulation à l'impact réel.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380</Words>
  <Application>Microsoft Office PowerPoint</Application>
  <PresentationFormat>Grand écran</PresentationFormat>
  <Paragraphs>73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Dalel BEN HAJ AMOR</cp:lastModifiedBy>
  <cp:revision>2</cp:revision>
  <dcterms:created xsi:type="dcterms:W3CDTF">2026-09-17T21:10:37Z</dcterms:created>
  <dcterms:modified xsi:type="dcterms:W3CDTF">2026-09-17T22:03:51Z</dcterms:modified>
</cp:coreProperties>
</file>