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IOT SIMULÉ — AGENTIC 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une détection précoce et automatisée des incendies est devenue indispensable.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281160" y="320040"/>
            <a:ext cx="2377440" cy="2377440"/>
          </a:xfrm>
          <a:prstGeom prst="ellipse">
            <a:avLst/>
          </a:prstGeom>
          <a:solidFill>
            <a:srgbClr val="00B8D9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29800" y="868680"/>
            <a:ext cx="1280160" cy="128016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221" y="1035101"/>
            <a:ext cx="947318" cy="9473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331720"/>
            <a:ext cx="777240" cy="77724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" y="2432761"/>
            <a:ext cx="575158" cy="57515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23042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patrimoine vital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600200" y="26974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forêts régulent le climat, abritent la biodiversité et fournissent des ressources essentielles aux populations.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703320"/>
            <a:ext cx="777240" cy="77724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3804361"/>
            <a:ext cx="575158" cy="57515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36758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méthodes traditionnelles limitées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1600200" y="40690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Patrouilles terrestres, tours de guet, survols habités : coûteux, lents, à couverture spatiale restreinte.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5074920"/>
            <a:ext cx="777240" cy="77724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" y="5175961"/>
            <a:ext cx="575158" cy="57515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00200" y="50474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détection précoce indispensable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1600200" y="54406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un départ de feu au plus tôt pour limiter sa propagation et réduire les dégâts humains et matériels.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DU PROJET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Surveiller, détecter, transmettre, alerter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31520" cy="73152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1786738"/>
            <a:ext cx="541325" cy="5413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099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drone entièrement simulé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0574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Modélisé sous Gazebo et piloté via ROS2, pour un comportement de vol réaliste sans aucun matériel physique.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63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VIRTUELS EMBARQUÉS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868680" cy="868680"/>
          </a:xfrm>
          <a:prstGeom prst="ellipse">
            <a:avLst/>
          </a:prstGeom>
          <a:solidFill>
            <a:srgbClr val="16223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68" y="3633368"/>
            <a:ext cx="642823" cy="64282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8600" y="4480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thermique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240280" y="3520440"/>
            <a:ext cx="868680" cy="868680"/>
          </a:xfrm>
          <a:prstGeom prst="ellipse">
            <a:avLst/>
          </a:prstGeom>
          <a:solidFill>
            <a:srgbClr val="16223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208" y="3633368"/>
            <a:ext cx="642823" cy="64282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920240" y="4480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de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fumée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3931920" y="3520440"/>
            <a:ext cx="868680" cy="868680"/>
          </a:xfrm>
          <a:prstGeom prst="ellipse">
            <a:avLst/>
          </a:prstGeom>
          <a:solidFill>
            <a:srgbClr val="16223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848" y="3633368"/>
            <a:ext cx="642823" cy="64282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611880" y="4480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de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583680" y="1691640"/>
            <a:ext cx="5074920" cy="3337560"/>
          </a:xfrm>
          <a:prstGeom prst="roundRect">
            <a:avLst>
              <a:gd name="adj" fmla="val 3288"/>
            </a:avLst>
          </a:prstGeom>
          <a:solidFill>
            <a:srgbClr val="1F2E4A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6858000" y="19202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↔ CAPTEURS EN RÉSEAU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 flipV="1">
            <a:off x="9121140" y="3589020"/>
            <a:ext cx="18288" cy="-1051560"/>
          </a:xfrm>
          <a:prstGeom prst="line">
            <a:avLst/>
          </a:prstGeom>
          <a:noFill/>
          <a:ln w="19050">
            <a:solidFill>
              <a:srgbClr val="00B8D9"/>
            </a:solidFill>
            <a:prstDash val="dash"/>
          </a:ln>
        </p:spPr>
      </p:sp>
      <p:sp>
        <p:nvSpPr>
          <p:cNvPr id="21" name="Shape 15"/>
          <p:cNvSpPr/>
          <p:nvPr/>
        </p:nvSpPr>
        <p:spPr>
          <a:xfrm>
            <a:off x="8732520" y="2148840"/>
            <a:ext cx="777240" cy="77724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561" y="2249881"/>
            <a:ext cx="575158" cy="575158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 flipH="1">
            <a:off x="9121140" y="3589020"/>
            <a:ext cx="-1371600" cy="777240"/>
          </a:xfrm>
          <a:prstGeom prst="line">
            <a:avLst/>
          </a:prstGeom>
          <a:noFill/>
          <a:ln w="19050">
            <a:solidFill>
              <a:srgbClr val="00B8D9"/>
            </a:solidFill>
            <a:prstDash val="dash"/>
          </a:ln>
        </p:spPr>
      </p:sp>
      <p:sp>
        <p:nvSpPr>
          <p:cNvPr id="24" name="Shape 17"/>
          <p:cNvSpPr/>
          <p:nvPr/>
        </p:nvSpPr>
        <p:spPr>
          <a:xfrm>
            <a:off x="7360920" y="3977640"/>
            <a:ext cx="777240" cy="77724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961" y="4078681"/>
            <a:ext cx="575158" cy="57515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121140" y="3589020"/>
            <a:ext cx="1371600" cy="777240"/>
          </a:xfrm>
          <a:prstGeom prst="line">
            <a:avLst/>
          </a:prstGeom>
          <a:noFill/>
          <a:ln w="19050">
            <a:solidFill>
              <a:srgbClr val="00B8D9"/>
            </a:solidFill>
            <a:prstDash val="dash"/>
          </a:ln>
        </p:spPr>
      </p:sp>
      <p:sp>
        <p:nvSpPr>
          <p:cNvPr id="27" name="Shape 19"/>
          <p:cNvSpPr/>
          <p:nvPr/>
        </p:nvSpPr>
        <p:spPr>
          <a:xfrm>
            <a:off x="10104120" y="3977640"/>
            <a:ext cx="777240" cy="77724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5161" y="4078681"/>
            <a:ext cx="575158" cy="575158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8618220" y="3086100"/>
            <a:ext cx="1005840" cy="100584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8979" y="3216859"/>
            <a:ext cx="744322" cy="744322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00B8D9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5577840"/>
            <a:ext cx="457200" cy="45720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1554480" y="53492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surveiller, détecter, transmettre et alerter en temps réel.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SCIENTIFIQUE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avec l'Agentic 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qui perçoit, raisonne, planifie et agit — sans intervention humaine continue.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8581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40280"/>
            <a:ext cx="731520" cy="73152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335378"/>
            <a:ext cx="541325" cy="5413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258568"/>
            <a:ext cx="3922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Raisonnement autonome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2697480"/>
            <a:ext cx="3922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drone analyse en continu les données de ses capteurs virtuels pour évaluer le risque d'incendie.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54496" y="1965960"/>
            <a:ext cx="538581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28816" y="2240280"/>
            <a:ext cx="731520" cy="731520"/>
          </a:xfrm>
          <a:prstGeom prst="ellipse">
            <a:avLst/>
          </a:prstGeom>
          <a:solidFill>
            <a:srgbClr val="1622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914" y="233537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43216" y="2258568"/>
            <a:ext cx="3922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dynamique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443216" y="2697480"/>
            <a:ext cx="3922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ajuste sa trajectoire de vol en temps réel selon les alertes détectées, sans plan de vol figé.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538581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663440"/>
            <a:ext cx="731520" cy="73152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4758538"/>
            <a:ext cx="541325" cy="54132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37360" y="4681728"/>
            <a:ext cx="3922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multi-agents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737360" y="5120640"/>
            <a:ext cx="3922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Drone, capteurs sol et cloud forment un système distribué à la compréhension collective.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54496" y="4389120"/>
            <a:ext cx="538581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28816" y="4663440"/>
            <a:ext cx="731520" cy="731520"/>
          </a:xfrm>
          <a:prstGeom prst="ellipse">
            <a:avLst/>
          </a:prstGeom>
          <a:solidFill>
            <a:srgbClr val="16223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914" y="4758538"/>
            <a:ext cx="541325" cy="54132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43216" y="4681728"/>
            <a:ext cx="3922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autonome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443216" y="5120640"/>
            <a:ext cx="3922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Alertes, mises à jour du dashboard et prédictions sont générées sans validation humaine préalable.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FONCTIONNELLE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techniques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386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85800" cy="6858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826" y="1945386"/>
            <a:ext cx="507492" cy="5074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simulé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081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Gazebo/ROS2 du multirotor et de son environnement de vol.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52544" y="1600200"/>
            <a:ext cx="348386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8576" y="1856232"/>
            <a:ext cx="685800" cy="6858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945386"/>
            <a:ext cx="507492" cy="5074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08576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Autopilote PX4 SITL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608576" y="3081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Stabilisation, navigation et gestion des points de passage.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56448" y="1600200"/>
            <a:ext cx="348386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856232"/>
            <a:ext cx="685800" cy="6858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634" y="1945386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incendie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081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TensorFlow Lite pour identifier un départ de feu en temps réel.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251960"/>
            <a:ext cx="348386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507992"/>
            <a:ext cx="685800" cy="685800"/>
          </a:xfrm>
          <a:prstGeom prst="ellipse">
            <a:avLst/>
          </a:prstGeom>
          <a:solidFill>
            <a:srgbClr val="1622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26" y="4597146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" y="5349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cloud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57332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chiffrée et sécurisée via le protocole MQTT/TLS.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52544" y="4251960"/>
            <a:ext cx="348386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08576" y="4507992"/>
            <a:ext cx="685800" cy="685800"/>
          </a:xfrm>
          <a:prstGeom prst="ellipse">
            <a:avLst/>
          </a:prstGeom>
          <a:solidFill>
            <a:srgbClr val="16223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597146"/>
            <a:ext cx="507492" cy="50749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08576" y="5349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608576" y="57332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en temps réel avec Grafana ou Kibana.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56448" y="4251960"/>
            <a:ext cx="348386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4507992"/>
            <a:ext cx="685800" cy="685800"/>
          </a:xfrm>
          <a:prstGeom prst="ellipse">
            <a:avLst/>
          </a:prstGeom>
          <a:solidFill>
            <a:srgbClr val="16223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1634" y="4597146"/>
            <a:ext cx="507492" cy="50749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12480" y="5349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&amp; prédiction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412480" y="57332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 des données et prédiction du risque à partir d'un dataset incendies.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TECHNIQUE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simplifiée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PHYSIQUE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39746" cy="1371600"/>
          </a:xfrm>
          <a:prstGeom prst="roundRect">
            <a:avLst>
              <a:gd name="adj" fmla="val 5333"/>
            </a:avLst>
          </a:prstGeom>
          <a:solidFill>
            <a:srgbClr val="1F2E4A"/>
          </a:solidFill>
          <a:ln/>
        </p:spPr>
      </p:sp>
      <p:sp>
        <p:nvSpPr>
          <p:cNvPr id="6" name="Shape 4"/>
          <p:cNvSpPr/>
          <p:nvPr/>
        </p:nvSpPr>
        <p:spPr>
          <a:xfrm>
            <a:off x="1535049" y="1682496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8750" y="1756197"/>
            <a:ext cx="419527" cy="41952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2286000"/>
            <a:ext cx="24483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simulé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097530" y="2093976"/>
            <a:ext cx="292608" cy="292608"/>
          </a:xfrm>
          <a:prstGeom prst="chevron">
            <a:avLst/>
          </a:prstGeom>
          <a:solidFill>
            <a:srgbClr val="00B8D9"/>
          </a:solidFill>
          <a:ln/>
        </p:spPr>
      </p:sp>
      <p:sp>
        <p:nvSpPr>
          <p:cNvPr id="10" name="Shape 7"/>
          <p:cNvSpPr/>
          <p:nvPr/>
        </p:nvSpPr>
        <p:spPr>
          <a:xfrm>
            <a:off x="3399282" y="1554480"/>
            <a:ext cx="2539746" cy="1371600"/>
          </a:xfrm>
          <a:prstGeom prst="roundRect">
            <a:avLst>
              <a:gd name="adj" fmla="val 5333"/>
            </a:avLst>
          </a:prstGeom>
          <a:solidFill>
            <a:srgbClr val="1F2E4A"/>
          </a:solidFill>
          <a:ln/>
        </p:spPr>
      </p:sp>
      <p:sp>
        <p:nvSpPr>
          <p:cNvPr id="11" name="Shape 8"/>
          <p:cNvSpPr/>
          <p:nvPr/>
        </p:nvSpPr>
        <p:spPr>
          <a:xfrm>
            <a:off x="4385691" y="1682496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392" y="1756197"/>
            <a:ext cx="419527" cy="41952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45002" y="2286000"/>
            <a:ext cx="24483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948172" y="2093976"/>
            <a:ext cx="292608" cy="292608"/>
          </a:xfrm>
          <a:prstGeom prst="chevron">
            <a:avLst/>
          </a:prstGeom>
          <a:solidFill>
            <a:srgbClr val="00B8D9"/>
          </a:solidFill>
          <a:ln/>
        </p:spPr>
      </p:sp>
      <p:sp>
        <p:nvSpPr>
          <p:cNvPr id="15" name="Shape 11"/>
          <p:cNvSpPr/>
          <p:nvPr/>
        </p:nvSpPr>
        <p:spPr>
          <a:xfrm>
            <a:off x="6249924" y="1554480"/>
            <a:ext cx="2539746" cy="1371600"/>
          </a:xfrm>
          <a:prstGeom prst="roundRect">
            <a:avLst>
              <a:gd name="adj" fmla="val 5333"/>
            </a:avLst>
          </a:prstGeom>
          <a:solidFill>
            <a:srgbClr val="1F2E4A"/>
          </a:solidFill>
          <a:ln/>
        </p:spPr>
      </p:sp>
      <p:sp>
        <p:nvSpPr>
          <p:cNvPr id="16" name="Shape 12"/>
          <p:cNvSpPr/>
          <p:nvPr/>
        </p:nvSpPr>
        <p:spPr>
          <a:xfrm>
            <a:off x="7236333" y="1682496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034" y="1756197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95644" y="2286000"/>
            <a:ext cx="24483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798814" y="2093976"/>
            <a:ext cx="292608" cy="292608"/>
          </a:xfrm>
          <a:prstGeom prst="chevron">
            <a:avLst/>
          </a:prstGeom>
          <a:solidFill>
            <a:srgbClr val="00B8D9"/>
          </a:solidFill>
          <a:ln/>
        </p:spPr>
      </p:sp>
      <p:sp>
        <p:nvSpPr>
          <p:cNvPr id="20" name="Shape 15"/>
          <p:cNvSpPr/>
          <p:nvPr/>
        </p:nvSpPr>
        <p:spPr>
          <a:xfrm>
            <a:off x="9100566" y="1554480"/>
            <a:ext cx="2539746" cy="1371600"/>
          </a:xfrm>
          <a:prstGeom prst="roundRect">
            <a:avLst>
              <a:gd name="adj" fmla="val 5333"/>
            </a:avLst>
          </a:prstGeom>
          <a:solidFill>
            <a:srgbClr val="1F2E4A"/>
          </a:solidFill>
          <a:ln/>
        </p:spPr>
      </p:sp>
      <p:sp>
        <p:nvSpPr>
          <p:cNvPr id="21" name="Shape 16"/>
          <p:cNvSpPr/>
          <p:nvPr/>
        </p:nvSpPr>
        <p:spPr>
          <a:xfrm>
            <a:off x="10086975" y="1682496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676" y="1756197"/>
            <a:ext cx="419527" cy="41952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46286" y="2286000"/>
            <a:ext cx="24483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3776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LOGIQUE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4160520"/>
            <a:ext cx="1318042" cy="1508760"/>
          </a:xfrm>
          <a:prstGeom prst="roundRect">
            <a:avLst>
              <a:gd name="adj" fmla="val 5550"/>
            </a:avLst>
          </a:prstGeom>
          <a:solidFill>
            <a:srgbClr val="1F2E4A"/>
          </a:solidFill>
          <a:ln/>
        </p:spPr>
      </p:sp>
      <p:sp>
        <p:nvSpPr>
          <p:cNvPr id="26" name="Shape 20"/>
          <p:cNvSpPr/>
          <p:nvPr/>
        </p:nvSpPr>
        <p:spPr>
          <a:xfrm>
            <a:off x="979061" y="4288536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497" y="4347972"/>
            <a:ext cx="338328" cy="33832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94360" y="4782312"/>
            <a:ext cx="12266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1875826" y="4768596"/>
            <a:ext cx="292608" cy="292608"/>
          </a:xfrm>
          <a:prstGeom prst="chevron">
            <a:avLst/>
          </a:prstGeom>
          <a:solidFill>
            <a:srgbClr val="00B8D9"/>
          </a:solidFill>
          <a:ln/>
        </p:spPr>
      </p:sp>
      <p:sp>
        <p:nvSpPr>
          <p:cNvPr id="30" name="Shape 23"/>
          <p:cNvSpPr/>
          <p:nvPr/>
        </p:nvSpPr>
        <p:spPr>
          <a:xfrm>
            <a:off x="2177578" y="4160520"/>
            <a:ext cx="1318042" cy="1508760"/>
          </a:xfrm>
          <a:prstGeom prst="roundRect">
            <a:avLst>
              <a:gd name="adj" fmla="val 5550"/>
            </a:avLst>
          </a:prstGeom>
          <a:solidFill>
            <a:srgbClr val="1F2E4A"/>
          </a:solidFill>
          <a:ln/>
        </p:spPr>
      </p:sp>
      <p:sp>
        <p:nvSpPr>
          <p:cNvPr id="31" name="Shape 24"/>
          <p:cNvSpPr/>
          <p:nvPr/>
        </p:nvSpPr>
        <p:spPr>
          <a:xfrm>
            <a:off x="2607999" y="4288536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435" y="4347972"/>
            <a:ext cx="338328" cy="33832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2223298" y="4782312"/>
            <a:ext cx="12266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PX4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3504765" y="4768596"/>
            <a:ext cx="292608" cy="292608"/>
          </a:xfrm>
          <a:prstGeom prst="chevron">
            <a:avLst/>
          </a:prstGeom>
          <a:solidFill>
            <a:srgbClr val="00B8D9"/>
          </a:solidFill>
          <a:ln/>
        </p:spPr>
      </p:sp>
      <p:sp>
        <p:nvSpPr>
          <p:cNvPr id="35" name="Shape 27"/>
          <p:cNvSpPr/>
          <p:nvPr/>
        </p:nvSpPr>
        <p:spPr>
          <a:xfrm>
            <a:off x="3806517" y="4160520"/>
            <a:ext cx="1318042" cy="1508760"/>
          </a:xfrm>
          <a:prstGeom prst="roundRect">
            <a:avLst>
              <a:gd name="adj" fmla="val 5550"/>
            </a:avLst>
          </a:prstGeom>
          <a:solidFill>
            <a:srgbClr val="1F2E4A"/>
          </a:solidFill>
          <a:ln/>
        </p:spPr>
      </p:sp>
      <p:sp>
        <p:nvSpPr>
          <p:cNvPr id="36" name="Shape 28"/>
          <p:cNvSpPr/>
          <p:nvPr/>
        </p:nvSpPr>
        <p:spPr>
          <a:xfrm>
            <a:off x="4236938" y="4288536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6374" y="4347972"/>
            <a:ext cx="338328" cy="33832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3852237" y="4782312"/>
            <a:ext cx="12266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Nœuds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5133703" y="4768596"/>
            <a:ext cx="292608" cy="292608"/>
          </a:xfrm>
          <a:prstGeom prst="chevron">
            <a:avLst/>
          </a:prstGeom>
          <a:solidFill>
            <a:srgbClr val="00B8D9"/>
          </a:solidFill>
          <a:ln/>
        </p:spPr>
      </p:sp>
      <p:sp>
        <p:nvSpPr>
          <p:cNvPr id="40" name="Shape 31"/>
          <p:cNvSpPr/>
          <p:nvPr/>
        </p:nvSpPr>
        <p:spPr>
          <a:xfrm>
            <a:off x="5435455" y="4160520"/>
            <a:ext cx="1318042" cy="1508760"/>
          </a:xfrm>
          <a:prstGeom prst="roundRect">
            <a:avLst>
              <a:gd name="adj" fmla="val 5550"/>
            </a:avLst>
          </a:prstGeom>
          <a:solidFill>
            <a:srgbClr val="1F2E4A"/>
          </a:solidFill>
          <a:ln/>
        </p:spPr>
      </p:sp>
      <p:sp>
        <p:nvSpPr>
          <p:cNvPr id="41" name="Shape 32"/>
          <p:cNvSpPr/>
          <p:nvPr/>
        </p:nvSpPr>
        <p:spPr>
          <a:xfrm>
            <a:off x="5865876" y="4288536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5312" y="4347972"/>
            <a:ext cx="338328" cy="338328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5481175" y="4782312"/>
            <a:ext cx="12266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6762641" y="4768596"/>
            <a:ext cx="292608" cy="292608"/>
          </a:xfrm>
          <a:prstGeom prst="chevron">
            <a:avLst/>
          </a:prstGeom>
          <a:solidFill>
            <a:srgbClr val="00B8D9"/>
          </a:solidFill>
          <a:ln/>
        </p:spPr>
      </p:sp>
      <p:sp>
        <p:nvSpPr>
          <p:cNvPr id="45" name="Shape 35"/>
          <p:cNvSpPr/>
          <p:nvPr/>
        </p:nvSpPr>
        <p:spPr>
          <a:xfrm>
            <a:off x="7064393" y="4160520"/>
            <a:ext cx="1318042" cy="1508760"/>
          </a:xfrm>
          <a:prstGeom prst="roundRect">
            <a:avLst>
              <a:gd name="adj" fmla="val 5550"/>
            </a:avLst>
          </a:prstGeom>
          <a:solidFill>
            <a:srgbClr val="1F2E4A"/>
          </a:solidFill>
          <a:ln/>
        </p:spPr>
      </p:sp>
      <p:sp>
        <p:nvSpPr>
          <p:cNvPr id="46" name="Shape 36"/>
          <p:cNvSpPr/>
          <p:nvPr/>
        </p:nvSpPr>
        <p:spPr>
          <a:xfrm>
            <a:off x="7494814" y="4288536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4250" y="4347972"/>
            <a:ext cx="338328" cy="338328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7110113" y="4782312"/>
            <a:ext cx="12266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MQTT/TLS</a:t>
            </a:r>
            <a:endParaRPr lang="en-US" sz="1050" dirty="0"/>
          </a:p>
        </p:txBody>
      </p:sp>
      <p:sp>
        <p:nvSpPr>
          <p:cNvPr id="49" name="Shape 38"/>
          <p:cNvSpPr/>
          <p:nvPr/>
        </p:nvSpPr>
        <p:spPr>
          <a:xfrm>
            <a:off x="8391579" y="4768596"/>
            <a:ext cx="292608" cy="292608"/>
          </a:xfrm>
          <a:prstGeom prst="chevron">
            <a:avLst/>
          </a:prstGeom>
          <a:solidFill>
            <a:srgbClr val="00B8D9"/>
          </a:solidFill>
          <a:ln/>
        </p:spPr>
      </p:sp>
      <p:sp>
        <p:nvSpPr>
          <p:cNvPr id="50" name="Shape 39"/>
          <p:cNvSpPr/>
          <p:nvPr/>
        </p:nvSpPr>
        <p:spPr>
          <a:xfrm>
            <a:off x="8693331" y="4160520"/>
            <a:ext cx="1318042" cy="1508760"/>
          </a:xfrm>
          <a:prstGeom prst="roundRect">
            <a:avLst>
              <a:gd name="adj" fmla="val 5550"/>
            </a:avLst>
          </a:prstGeom>
          <a:solidFill>
            <a:srgbClr val="1F2E4A"/>
          </a:solidFill>
          <a:ln/>
        </p:spPr>
      </p:sp>
      <p:sp>
        <p:nvSpPr>
          <p:cNvPr id="51" name="Shape 40"/>
          <p:cNvSpPr/>
          <p:nvPr/>
        </p:nvSpPr>
        <p:spPr>
          <a:xfrm>
            <a:off x="9123753" y="4288536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3189" y="4347972"/>
            <a:ext cx="338328" cy="338328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8739051" y="4782312"/>
            <a:ext cx="12266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50" dirty="0"/>
          </a:p>
        </p:txBody>
      </p:sp>
      <p:sp>
        <p:nvSpPr>
          <p:cNvPr id="54" name="Shape 42"/>
          <p:cNvSpPr/>
          <p:nvPr/>
        </p:nvSpPr>
        <p:spPr>
          <a:xfrm>
            <a:off x="10020518" y="4768596"/>
            <a:ext cx="292608" cy="292608"/>
          </a:xfrm>
          <a:prstGeom prst="chevron">
            <a:avLst/>
          </a:prstGeom>
          <a:solidFill>
            <a:srgbClr val="00B8D9"/>
          </a:solidFill>
          <a:ln/>
        </p:spPr>
      </p:sp>
      <p:sp>
        <p:nvSpPr>
          <p:cNvPr id="55" name="Shape 43"/>
          <p:cNvSpPr/>
          <p:nvPr/>
        </p:nvSpPr>
        <p:spPr>
          <a:xfrm>
            <a:off x="10322270" y="4160520"/>
            <a:ext cx="1318042" cy="1508760"/>
          </a:xfrm>
          <a:prstGeom prst="roundRect">
            <a:avLst>
              <a:gd name="adj" fmla="val 5550"/>
            </a:avLst>
          </a:prstGeom>
          <a:solidFill>
            <a:srgbClr val="1F2E4A"/>
          </a:solidFill>
          <a:ln/>
        </p:spPr>
      </p:sp>
      <p:sp>
        <p:nvSpPr>
          <p:cNvPr id="56" name="Shape 44"/>
          <p:cNvSpPr/>
          <p:nvPr/>
        </p:nvSpPr>
        <p:spPr>
          <a:xfrm>
            <a:off x="10752691" y="4288536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12127" y="4347972"/>
            <a:ext cx="338328" cy="338328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10367990" y="4782312"/>
            <a:ext cx="12266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59" name="Text 46"/>
          <p:cNvSpPr txBox="1"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chaîne complète de bout en bout : de l'acquisition des données par les capteurs jusqu'à leur restitution sur le dashboard.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PROJET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ajoutée &amp; Impact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85816" cy="1965960"/>
          </a:xfrm>
          <a:prstGeom prst="roundRect">
            <a:avLst>
              <a:gd name="adj" fmla="val 4651"/>
            </a:avLst>
          </a:prstGeom>
          <a:solidFill>
            <a:srgbClr val="1F2E4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685800" cy="6858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114" y="2146554"/>
            <a:ext cx="507492" cy="5074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057400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innovation concrète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496312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tangible des principes de l'Agentic AI au sein d'un système robotique simulé.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54496" y="1783080"/>
            <a:ext cx="5385816" cy="1965960"/>
          </a:xfrm>
          <a:prstGeom prst="roundRect">
            <a:avLst>
              <a:gd name="adj" fmla="val 4651"/>
            </a:avLst>
          </a:prstGeom>
          <a:solidFill>
            <a:srgbClr val="1F2E4A"/>
          </a:solidFill>
          <a:ln/>
        </p:spPr>
      </p:sp>
      <p:sp>
        <p:nvSpPr>
          <p:cNvPr id="10" name="Shape 7"/>
          <p:cNvSpPr/>
          <p:nvPr/>
        </p:nvSpPr>
        <p:spPr>
          <a:xfrm>
            <a:off x="6528816" y="2057400"/>
            <a:ext cx="685800" cy="6858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0" y="214655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97496" y="2057400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impact environnemental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397496" y="2496312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les départs de feu pour protéger les écosystèmes et la biodiversité forestière.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85816" cy="1965960"/>
          </a:xfrm>
          <a:prstGeom prst="roundRect">
            <a:avLst>
              <a:gd name="adj" fmla="val 4651"/>
            </a:avLst>
          </a:prstGeom>
          <a:solidFill>
            <a:srgbClr val="1F2E4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43400"/>
            <a:ext cx="685800" cy="6858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443255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4343400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académique réaliste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4782312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Entièrement démontrable dans le cadre temporel et matériel d'un PFE.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54496" y="4069080"/>
            <a:ext cx="5385816" cy="1965960"/>
          </a:xfrm>
          <a:prstGeom prst="roundRect">
            <a:avLst>
              <a:gd name="adj" fmla="val 4651"/>
            </a:avLst>
          </a:prstGeom>
          <a:solidFill>
            <a:srgbClr val="1F2E4A"/>
          </a:solidFill>
          <a:ln/>
        </p:spPr>
      </p:sp>
      <p:sp>
        <p:nvSpPr>
          <p:cNvPr id="20" name="Shape 15"/>
          <p:cNvSpPr/>
          <p:nvPr/>
        </p:nvSpPr>
        <p:spPr>
          <a:xfrm>
            <a:off x="6528816" y="4343400"/>
            <a:ext cx="685800" cy="6858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0" y="443255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97496" y="4343400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solution évolutive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397496" y="4782312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simulation logicielle vers un futur prototype physique déployable sur le terrain.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1722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simulation à l'impact réel.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FINALE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9281160" y="320040"/>
            <a:ext cx="2377440" cy="2377440"/>
          </a:xfrm>
          <a:prstGeom prst="ellipse">
            <a:avLst/>
          </a:prstGeom>
          <a:solidFill>
            <a:srgbClr val="00B8D9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29800" y="868680"/>
            <a:ext cx="1280160" cy="128016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221" y="1035101"/>
            <a:ext cx="947318" cy="94731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331720"/>
            <a:ext cx="777240" cy="77724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" y="2432761"/>
            <a:ext cx="575158" cy="57515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3042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synthèse technique aboutie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26974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Robotique simulée, traitement d'image, apprentissage automatique et IoT sécurisé au service d'un cas d'usage réel.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703320"/>
            <a:ext cx="777240" cy="77724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3804361"/>
            <a:ext cx="575158" cy="57515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36758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pertinence forte pour l'Agentic AI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1600200" y="40690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Raisonnement, planification, collaboration et action autonome illustrés de bout en bout.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48640" y="5074920"/>
            <a:ext cx="777240" cy="77724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" y="5175961"/>
            <a:ext cx="575158" cy="57515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00200" y="50474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contribution à la formation des ingénieurs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1600200" y="54406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pluridisciplinaire mobilisant robotique, IA, IoT et ingénierie cloud.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64190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une intelligence artificielle agentique au service de la protection des forêts.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2026-09-17T21:50:18Z</dcterms:created>
  <dcterms:modified xsi:type="dcterms:W3CDTF">2026-09-17T21:50:18Z</dcterms:modified>
</cp:coreProperties>
</file>